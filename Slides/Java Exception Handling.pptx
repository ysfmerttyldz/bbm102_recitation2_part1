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Sorts Mill Goudy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540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Exception Handling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57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BBM 102 — Introduction to Programming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9 — Exceptions in Java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584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Spring Semester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8280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Material — For Educational Purposes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12065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78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Why Do We Use Exceptions?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2730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175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Exception Handling Keywords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4127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572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Exception Class Hierarchy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524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84836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0" y="8534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Do We Use Exceptions?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errors, exceptions, and the need for exception handling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Exceptions are runtime events that disrupt normal program flow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Exception?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4986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an event that occurs during program execution and disrupts the normal flow of instructions.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Java exception is an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describes an exceptional condition. When an abnormal condition arises, the JVM creates an exception object and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 in the method that caused the error.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Runtime Errors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4986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Divide by zero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ArithmeticException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 out of bounds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ArrayIndexOutOfBoundsException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 pointer access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NullPointerException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not found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FileNotFoundException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overflow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9370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1148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When an Exception is Not Handled?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5466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an exception is not caught by the program, the JVM's default exception handler catches it,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terminates the program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prints a stack trace showing what went wrong and where: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6642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715000"/>
            <a:ext cx="142240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in thread "main" java.lang.ArithmeticException: / by zero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ExceptionExample.main(ExceptionExample.java:5)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8072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 Gives the Programmer Control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239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 is performing an action in response to an exception: exiting gracefully, retrying with alternative data, displaying a user-friendly error message, or logging the issue for debugging.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6" name="Text 14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Compile-time errors are caught by the compiler; runtime errors occur during execution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92200"/>
          <a:ext cx="14732000" cy="3556000"/>
        </p:xfrm>
        <a:graphic>
          <a:graphicData uri="http://schemas.openxmlformats.org/drawingml/2006/table">
            <a:tbl>
              <a:tblPr/>
              <a:tblGrid>
                <a:gridCol w="2651760"/>
                <a:gridCol w="4124960"/>
                <a:gridCol w="4124960"/>
                <a:gridCol w="383032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 Type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Detected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Syntax Error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Language rules have not been followed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By the compiler (compile-time)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Missing semicolon, unmatched braces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Logic Error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Program runs but produces wrong results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During testing (runtime)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Wrong formula, incorrect condition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Runtime Error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Environment detects an impossible operation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While the program is running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Divide by zero, null pointer, array bounds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4902200"/>
            <a:ext cx="50800" cy="1270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6" name="Text 3"/>
          <p:cNvSpPr/>
          <p:nvPr/>
        </p:nvSpPr>
        <p:spPr>
          <a:xfrm>
            <a:off x="965200" y="4902200"/>
            <a:ext cx="144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Errors = Exceptions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308600"/>
            <a:ext cx="1447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errors are the category of errors that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exceptions are designed to handle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Syntax errors must be fixed before compilation; logic errors require debugging and testing. Only runtime errors can be managed through Java's exception handling mechanism.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63500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65278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Runtime Error in Code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6934200"/>
            <a:ext cx="7112000" cy="1587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1" name="Text 8"/>
          <p:cNvSpPr/>
          <p:nvPr/>
        </p:nvSpPr>
        <p:spPr>
          <a:xfrm>
            <a:off x="965200" y="6985000"/>
            <a:ext cx="67056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 ExceptionDemo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 main(String[] args)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result = 5 / 0; // Runtime error!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82000" y="6527800"/>
            <a:ext cx="711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line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result = 5 / 0;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causes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runtime. The compiler does not catch this because dividing by zero is syntactically valid — it only becomes an error when the code actually executes.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4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Exception Handling Keywords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try, catch, finally, throw, throws — the five keywords for managing exceptions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try-catch block monitors code and handles thrown exceptions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498600"/>
            <a:ext cx="7112000" cy="3492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574800"/>
            <a:ext cx="67056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 ExceptionExample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 main(String[] args)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dividend = 5;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divisor = 0;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div = dividend / divisor;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0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(Exception e)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"Exception handled!");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4986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 monitors statements for exceptions.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dividend / divisor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throws ArithmeticException.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Execution stops; JVM searches for a matching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catch block executes — prints "Exception handled!"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Program continues normally after the catch block.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0038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5181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Definitions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613400"/>
            <a:ext cx="4572000" cy="127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5689600"/>
            <a:ext cx="4165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a block to monitor if any exception occurs.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88000" y="5715000"/>
            <a:ext cx="4572000" cy="127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4" name="Text 12"/>
          <p:cNvSpPr/>
          <p:nvPr/>
        </p:nvSpPr>
        <p:spPr>
          <a:xfrm>
            <a:off x="5791200" y="5791200"/>
            <a:ext cx="4165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Follows try, catches any exception thrown within 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14000" y="5613400"/>
            <a:ext cx="5080000" cy="127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617200" y="5689600"/>
            <a:ext cx="4673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Rule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catch only applies to its immediately preceding try block.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7086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493000"/>
            <a:ext cx="7112000" cy="8636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" y="7543800"/>
            <a:ext cx="6705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handled!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(Program does not crash — execution continues)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1" name="Text 19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finally block guarantees execution regardless of whether an exception occurs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922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 creates code that executes after a try/catch completes. It runs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whether or not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 exception is thrown,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whether or not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 exception is caught. Use it for cleanup operations.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06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489200"/>
            <a:ext cx="67056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statements that may throw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5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(ExceptionType e)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handle exception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5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finally</a:t>
            </a:r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always executes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2006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Execution Scenarios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489200"/>
            <a:ext cx="50800" cy="7112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0" name="Text 8"/>
          <p:cNvSpPr/>
          <p:nvPr/>
        </p:nvSpPr>
        <p:spPr>
          <a:xfrm>
            <a:off x="8585200" y="2489200"/>
            <a:ext cx="685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exception: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try executes, then finally executes.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3352800"/>
            <a:ext cx="50800" cy="7112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2" name="Text 10"/>
          <p:cNvSpPr/>
          <p:nvPr/>
        </p:nvSpPr>
        <p:spPr>
          <a:xfrm>
            <a:off x="8585200" y="3352800"/>
            <a:ext cx="685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caught: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try executes, catch executes, then finally executes.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4216400"/>
            <a:ext cx="50800" cy="7112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4" name="Text 12"/>
          <p:cNvSpPr/>
          <p:nvPr/>
        </p:nvSpPr>
        <p:spPr>
          <a:xfrm>
            <a:off x="8585200" y="4216400"/>
            <a:ext cx="685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not caught: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try executes, finally executes, then exception propagates outward.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816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3594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 for finally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791200"/>
            <a:ext cx="4572000" cy="127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5867400"/>
            <a:ext cx="416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Closing files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file handles are closed even if read/write fails.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5791200"/>
            <a:ext cx="4572000" cy="127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0" name="Text 18"/>
          <p:cNvSpPr/>
          <p:nvPr/>
        </p:nvSpPr>
        <p:spPr>
          <a:xfrm>
            <a:off x="5791200" y="5867400"/>
            <a:ext cx="416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Releasing resources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connections and network sockets cleanup.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14000" y="5791200"/>
            <a:ext cx="5080000" cy="127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17200" y="5867400"/>
            <a:ext cx="467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Releasing locks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synchronization locks must always be released.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2644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4" name="Text 22"/>
          <p:cNvSpPr/>
          <p:nvPr/>
        </p:nvSpPr>
        <p:spPr>
          <a:xfrm>
            <a:off x="965200" y="7340600"/>
            <a:ext cx="14325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finally block is the only construct in Java that guarantees a block of code will execute "no matter what" — even if the try block contains a return statement.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6" name="Text 24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Multiple catch clauses enable different responses for different exception types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catch Example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498600"/>
            <a:ext cx="7112000" cy="355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574800"/>
            <a:ext cx="67056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num = scanner.nextInt();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System.out.println(10 / num);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int[] arr = {1, 2, 3};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System.out.println(arr[num]);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(ArithmeticException e)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"Division by zero!");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(ArrayIndexOutOfBoundsException e)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"Index out of bounds!");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Rules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524000"/>
            <a:ext cx="50800" cy="1016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8585200" y="1524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matters: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Catch statements are inspected in order. The first matching type is executed; remaining catch blocks are bypassed.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692400"/>
            <a:ext cx="50800" cy="10160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1" name="Text 9"/>
          <p:cNvSpPr/>
          <p:nvPr/>
        </p:nvSpPr>
        <p:spPr>
          <a:xfrm>
            <a:off x="8585200" y="26924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Subclass first: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Exception subclasses must come before their superclasses. A superclass catch would prevent subclass catches from ever executing.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3860800"/>
            <a:ext cx="50800" cy="1016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8585200" y="38608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matching: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thrown exception must be an object of the same class or a subclass of the declared catch parameter type.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578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435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try Statements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8674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try block can contain other try blocks. If the inner try has no matching catch,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 try's catch clauses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inspected. If no match exists anywhere, the JVM handles the exception.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867400"/>
            <a:ext cx="7112000" cy="14986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8" name="Text 16"/>
          <p:cNvSpPr/>
          <p:nvPr/>
        </p:nvSpPr>
        <p:spPr>
          <a:xfrm>
            <a:off x="8585200" y="5943600"/>
            <a:ext cx="670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// outer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// inner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risky code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 e) { 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 e) { }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7366000"/>
            <a:ext cx="14732000" cy="9144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0" name="Text 18"/>
          <p:cNvSpPr/>
          <p:nvPr/>
        </p:nvSpPr>
        <p:spPr>
          <a:xfrm>
            <a:off x="965200" y="7442200"/>
            <a:ext cx="14325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Tip: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a single catch(Exception e) when the same action handles all exceptions. Use multiple catch clauses when different exceptions require different responses.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Exception Class Hierarchy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inheritance structure, checked vs unchecked exceptions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exception classes inherit from Throwable, branching into Exception and Error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Hierarchy Tree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498600"/>
            <a:ext cx="7112000" cy="5080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00200"/>
            <a:ext cx="6604000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java.lang.Object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 </a:t>
            </a:r>
            <a:pPr>
              <a:lnSpc>
                <a:spcPct val="130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java.lang.Throwable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 </a:t>
            </a:r>
            <a:pPr>
              <a:lnSpc>
                <a:spcPct val="130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├─ RuntimeException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│ ├─ ArithmeticException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│ ├─ NullPointerException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│ ├─ IndexOutOfBoundsException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│ └─ NoSuchElementException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├─ IOException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├─ ClassNotFoundException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└─ CloneNotSupportedException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 </a:t>
            </a:r>
            <a:pPr>
              <a:lnSpc>
                <a:spcPct val="130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java.lang.Error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 LinkageError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 VirtualMachineError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 AWTError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Classes Explained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524000"/>
            <a:ext cx="50800" cy="1143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8585200" y="15240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Throwable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root class of the entire exception hierarchy. All error and exception classes extend this class directly or indirectly.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819400"/>
            <a:ext cx="50800" cy="11430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1" name="Text 9"/>
          <p:cNvSpPr/>
          <p:nvPr/>
        </p:nvSpPr>
        <p:spPr>
          <a:xfrm>
            <a:off x="8585200" y="28194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Represents conditions that applications might want to catch. All user-handled exceptions derive from this class.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4114800"/>
            <a:ext cx="50800" cy="1143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8585200" y="41148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Represents serious problems that applications should not try to catch. These are internal JVM errors (OutOfMemoryError).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5410200"/>
            <a:ext cx="50800" cy="11430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5" name="Text 13"/>
          <p:cNvSpPr/>
          <p:nvPr/>
        </p:nvSpPr>
        <p:spPr>
          <a:xfrm>
            <a:off x="8585200" y="54102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RuntimeException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superclass of all unchecked exceptions. These typically result from programming bugs and do not require explicit handling.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7310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9088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base class for all exceptions that developers are expected to handle. There are many direct and indirect subclasses in the standard Java library, including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NullPointerException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Developers can also create custom exception classes by extending Exception or RuntimeException.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9" name="Text 17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Checked exceptions force compiler verification; unchecked exceptions extend RuntimeException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92200"/>
          <a:ext cx="14732000" cy="2667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Checked Exceptions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Unchecked Exceptions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Compiler Check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Compiler forces handling — must catch or declare with throws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Compiler does not force handling — optional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Cause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External conditions beyond program control (file I/O, network, database)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Usually programming mistakes (null dereference, divide by zero, bad cast)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39370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148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throws Keyword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5212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 declares that a method is capable of throwing exception(s). Callers must then guard against those exceptions using try-catch or their own throws declaration.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382000" y="4114800"/>
            <a:ext cx="7112000" cy="16764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9" name="Text 6"/>
          <p:cNvSpPr/>
          <p:nvPr/>
        </p:nvSpPr>
        <p:spPr>
          <a:xfrm>
            <a:off x="8585200" y="4216400"/>
            <a:ext cx="67056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Declare a method may throw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 readFile()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file reading code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60198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Ways to Handle Checked Exceptions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451600"/>
            <a:ext cx="7112000" cy="1841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2" name="Text 9"/>
          <p:cNvSpPr/>
          <p:nvPr/>
        </p:nvSpPr>
        <p:spPr>
          <a:xfrm>
            <a:off x="965200" y="6502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(a) try-catch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5200" y="6858000"/>
            <a:ext cx="670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riskyMethod();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(IOException e)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handle 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6451600"/>
            <a:ext cx="7112000" cy="1841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5" name="Text 12"/>
          <p:cNvSpPr/>
          <p:nvPr/>
        </p:nvSpPr>
        <p:spPr>
          <a:xfrm>
            <a:off x="8585200" y="6502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(b) throws declaration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85200" y="6858000"/>
            <a:ext cx="670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 method()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IOException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riskyMethod();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8" name="Text 15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Developers can throw exceptions and create custom exception classes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throw Keyword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498600"/>
            <a:ext cx="711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 is used to manually throw an exception object. The thrown object must extend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java.lang.Throwable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You can create a new exception or rethrow a caught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997200"/>
            <a:ext cx="6705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Throwing a new 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(number &lt; 0)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 new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RuntimeException();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Rethrowing a caught 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(Exception e) {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0922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Exception 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498600"/>
            <a:ext cx="7112000" cy="31496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0" name="Text 8"/>
          <p:cNvSpPr/>
          <p:nvPr/>
        </p:nvSpPr>
        <p:spPr>
          <a:xfrm>
            <a:off x="8585200" y="1574800"/>
            <a:ext cx="6705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Extend Exception or RuntimeException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 LessThanZeroException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Exception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LessThanZeroException() { 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LessThanZeroException(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message)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(message);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6990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9530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6323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Information from Exception Objects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84800"/>
            <a:ext cx="4572000" cy="1397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5461000"/>
            <a:ext cx="4165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toString()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Returns a string with the exception class name and description message.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0" y="5384800"/>
            <a:ext cx="4572000" cy="1397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6" name="Text 14"/>
          <p:cNvSpPr/>
          <p:nvPr/>
        </p:nvSpPr>
        <p:spPr>
          <a:xfrm>
            <a:off x="5791200" y="5461000"/>
            <a:ext cx="4165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getMessage()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Returns only the description message passed via the constructor.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414000" y="5384800"/>
            <a:ext cx="5080000" cy="1397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617200" y="5461000"/>
            <a:ext cx="4673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printStackTrace()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Prints the full stack trace: exception type, message, and call sequence.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705600"/>
            <a:ext cx="14732000" cy="17145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20" name="Text 18"/>
          <p:cNvSpPr/>
          <p:nvPr/>
        </p:nvSpPr>
        <p:spPr>
          <a:xfrm>
            <a:off x="965200" y="6781800"/>
            <a:ext cx="143256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(ArithmeticException e)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System.out.println(e); // java.lang.ArithmeticException: / by zero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System.out.println(e.getMessage()); // / by zero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e.printStackTrace(); // Full stack trace with line numbers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4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00200"/>
            <a:ext cx="50800" cy="889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002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exceptions?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Exceptions handle abnormal runtime conditions (divide by zero, null pointer, file not found) that would otherwise crash the program. They give programmers control over error recovery.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50800" cy="8890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6670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keywords: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monitors code,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handles exceptions,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guarantees cleanup,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manually throws exceptions,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declares exception-capable methods.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733800"/>
            <a:ext cx="50800" cy="889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37338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hierarchy: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exceptions inherit from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branching into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(developer-handled)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(JVM internal, do not handle).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its subclasses are unchecked.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800600"/>
            <a:ext cx="50800" cy="8890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48006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Checked vs Unchecked: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Checked exceptions (IOException, etc.) force compiler-checked handling. Unchecked exceptions (ArithmeticException, NullPointerException) extend RuntimeException and do not require explicit handling.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867400"/>
            <a:ext cx="50800" cy="889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58674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exceptions: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by extending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RuntimeException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coding necessary constructors. 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getMessage()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toString()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printStackTrace()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extract exception information.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1280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83312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BBM 102 — Introduction to Programming II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Exception Handling</dc:title>
  <dc:subject>Java Exception Handling</dc:subject>
  <dc:creator>Kimi</dc:creator>
  <cp:lastModifiedBy>Kimi</cp:lastModifiedBy>
  <cp:revision>1</cp:revision>
  <dcterms:created xsi:type="dcterms:W3CDTF">2026-05-01T13:45:34Z</dcterms:created>
  <dcterms:modified xsi:type="dcterms:W3CDTF">2026-05-01T13:45:34Z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{"Label":"Java Exception Handling","ContentProducer":"001191110108MACG2KBH8F10000","ProduceID":"19de3c95-5d32-80b8-8000-000021dcbdaf","ReservedCode1":"","ContentPropagator":"001191110108MACG2KBH8F20000","PropagateID":"19de3c95-5d32-80b8-8000-000021dcbdaf","ReservedCode2":""}</vt:lpwstr>
  </property>
</Properties>
</file>