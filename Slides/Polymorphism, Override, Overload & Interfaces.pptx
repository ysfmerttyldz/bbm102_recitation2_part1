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016000" y="3238500"/>
            <a:ext cx="1422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Polymorphism, Override, Overload &amp; Interfaces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000" y="4127500"/>
            <a:ext cx="142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Object-Oriented Programming Concepts in Java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47625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016000" y="5334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BBM 102 – Introduction to Programming II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57785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2025-2026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6223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3335000" y="82550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LECTURE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635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120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51000"/>
            <a:ext cx="14224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2032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32000" y="2070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Polymorphism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451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Definition, Rules, and Dynamic Binding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2921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16000" y="31115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32000" y="3149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 Overriding vs Overloading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2000" y="3530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 and Compile-Time Polymorphism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40005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016000" y="41910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32000" y="42291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 in Java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32000" y="46101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Contracts, Implementation, and Multiple Inheritance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w="12700">
            <a:solidFill>
              <a:srgbClr val="ECEFF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16000" y="5270500"/>
            <a:ext cx="8128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32000" y="53086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6323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Example &amp; Summary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032000" y="56896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Putting It All Together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Polymorphism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Foundation of Flexible Object-Oriented Design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 — Understanding Polymorphism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Polymorphism?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14224000" cy="1016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524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means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"many forms"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(poly = many, morph = forms). It enables you to program "in the general" rather than "in the specific."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086100"/>
            <a:ext cx="685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reference can point to different object types over time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Java references are potentially polymorphic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Compatibility based on inheritance or interfaces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Reference can point to same type or any subclass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2667000"/>
            <a:ext cx="0" cy="2286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3820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Golden Rule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086100"/>
            <a:ext cx="6858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 a = new Dog();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o = new Animal();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C6282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Illegal: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 d = new Animal();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dogs are animals, but not all animals are dogs.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16000" y="5969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016000" y="635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Perspective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731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we create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myDog = new Dog()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Dog constructor calls the Animal constructor, which in turn calls the Object constructor. In memory, the object contains layers: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Object → Animal → Dog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reference of type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can point to a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 because Dog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i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is-an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Animal. The reverse is never allowed.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01 — Understanding Polymorphism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Polymorphism in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397000"/>
            <a:ext cx="635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Animal Movement Simulation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161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Suppose we simulate movement for a biological study. Classes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Fish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extend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which contains method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move()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program maintains an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Animal[]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array with references to objects of various subclasses. To simulate movement, the program sends each object the same message: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move()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6000" y="3429000"/>
            <a:ext cx="14224000" cy="1651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556000"/>
            <a:ext cx="1371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Fish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might swim 3 meters  | 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might jump 5 meters  | 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Bird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might fly 10 meters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program issues the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message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(move) to each animal, but each object knows how to modify its coordinates appropriately for its specific type of movement.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6000" y="520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Binding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56261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superclass variable refers to a subclass object, calling a method invokes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subclass version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Java executes the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lowest occurrence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 method on the actual object.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16000" y="673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Extensibility Benefit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71501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polymorphism, new classes can be added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little or no modification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the general portions of the program, as long as the new classes are part of the inheritance hierarchy.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 Overriding vs Overloading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Redefining and Extending Method Behavior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 — Method Overriding vs Overloading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Overriding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14224000" cy="1143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524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subclass provides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implementation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 method already defined in its superclass. Same name, same parameters, same return type (or covariant).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131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Requires 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inheritance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relationship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 signature must be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identical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Achieves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runtime polymorphism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@Override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annotation for safety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Access modifier cannot be more restrictive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2794000"/>
            <a:ext cx="0" cy="2794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382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2131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Animal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 makeNoise()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Dog extends Animal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 makeNoise()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System.out.println("bark");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47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Binding in Action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8961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Animal myAnimal = new Dog();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myAnimal.makeNoise();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// Output: "bark"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Java calls the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Dog's version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because the actual object is a Dog — the essence of runtime polymorphism.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605000" y="876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02 — Method Overriding vs Overloading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 Overloading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14224000" cy="1143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524000"/>
            <a:ext cx="137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methods in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name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parameter lists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compiler decides which method to call at compile time.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321310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Occurs within the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class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Parameter list must be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Achieves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compile-time polymorphism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Return type alone is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sufficient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Makes APIs more intuitive and cleaner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28000" y="2794000"/>
            <a:ext cx="0" cy="2794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382000" y="279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32131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Calculator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 add(int a, int b)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a + b; 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add(double a, double b)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a + b; 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 add(int a, int b, int c)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a + b + c;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604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Overriding vs Overloading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7023100"/>
          <a:ext cx="14224000" cy="1524000"/>
        </p:xfrm>
        <a:graphic>
          <a:graphicData uri="http://schemas.openxmlformats.org/drawingml/2006/table">
            <a:tbl>
              <a:tblPr/>
              <a:tblGrid>
                <a:gridCol w="3556000"/>
                <a:gridCol w="5334000"/>
                <a:gridCol w="53340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Aspect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Overriding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Overloading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Class Relationship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Different classes (inheritance)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Same class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Parameters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Must be identical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Must be different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Polymorphism Type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Runtime polymorphism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Compile-time polymorphism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14605000" y="876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Interfaces in Java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889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Contracts, Integration Points, and Multiple Inheritance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 — Interfaces in Java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Defining and Implementing Interfaces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397000"/>
            <a:ext cx="14224000" cy="889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397000"/>
            <a:ext cx="14224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524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contract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guarantees the system will have certain functionalities. It is an integration point between two systems.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Syntax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9591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interface Shape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void draw();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PI = 3.14;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 Circle implements Shape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void draw() { ... 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2667000"/>
            <a:ext cx="0" cy="368300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382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959100"/>
            <a:ext cx="685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 are implicitly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Variables are implicitly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static final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class must implement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methods, or be abstract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 class can implement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interfaces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interface can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extend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another interface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6.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Interface names can be used as </a:t>
            </a:r>
            <a:pPr>
              <a:lnSpc>
                <a:spcPct val="16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 types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16000" y="622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Interface Implementation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6642100"/>
            <a:ext cx="1422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 LedTv implements Usb, Hdmi, Scart, Vga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// Must implement all methods from all interfaces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how Java achieves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inheritance of type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class can promise to fulfill multiple contracts simultaneously.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03 — Interfaces in Java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Interfaces vs Abstract Classes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1397000"/>
          <a:ext cx="14224000" cy="4572000"/>
        </p:xfrm>
        <a:graphic>
          <a:graphicData uri="http://schemas.openxmlformats.org/drawingml/2006/table">
            <a:tbl>
              <a:tblPr/>
              <a:tblGrid>
                <a:gridCol w="3556000"/>
                <a:gridCol w="5334000"/>
                <a:gridCol w="53340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Abstract Class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Interface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A6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Keyword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abstract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interface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Instantiation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Cannot be instantiated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Cannot be instantiated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Methods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Abstract + concrete methods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 methods abstract (by default)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Variables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Instance variables allowed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Only constants (static final)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Constructors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Yes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Inheritance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Single inheritance only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Multiple implementation allowed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Design Purpose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Default implementation base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37474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Contract / capability guarantee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016000" y="622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to Use Which?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66421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an Abstract Class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you want to share code among several closely related classes, and you expect classes that extend it to have many common methods or fields.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an Interface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you want to specify a particular behavior that can be adopted by any class, regardless of its place in the class hierarchy. Interfaces are ideal for loose coupling and cross-cutting concerns.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0"/>
            <a:ext cx="533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FFFFFF">
                    <a:alpha val="823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016000" cy="0"/>
          </a:xfrm>
          <a:prstGeom prst="straightConnector1">
            <a:avLst/>
          </a:prstGeom>
          <a:noFill/>
          <a:ln w="254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Example &amp;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4953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2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Putting It All Together in a Real-World Scenario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 — Practical Example &amp;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Code Example: Payroll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18161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employee payroll system with different employee types. We use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abstract class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Employee,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concrete subclasses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Payable interface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process payments polymorphically.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16000" y="2921000"/>
            <a:ext cx="14224000" cy="4318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3048000"/>
            <a:ext cx="1371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abstract class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protected String name;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abstract double earnings();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class SalariedEmployee extends Employee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double weeklySalary;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6282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@Override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public double earnings()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return weeklySalary; }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interface Payable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 getPaymentAmount();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736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Polymorphic 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7874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Employee[] emp = {new SalariedEmployee(...), new HourlyEmployee(...)};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(Employee e : emp) { e.earnings(); }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3747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// responds by actual type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4605000" y="8763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1016000" y="254000"/>
            <a:ext cx="444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04 — Practical Example &amp;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16000" y="635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55A6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&amp; 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16000" y="1143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160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"Many forms" — the same message sent to different objects produces different behaviors based on the actual object type. Enables extensible, maintainable code.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055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2" name="Shape 10"/>
          <p:cNvSpPr/>
          <p:nvPr/>
        </p:nvSpPr>
        <p:spPr>
          <a:xfrm>
            <a:off x="59055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3" name="Text 11"/>
          <p:cNvSpPr/>
          <p:nvPr/>
        </p:nvSpPr>
        <p:spPr>
          <a:xfrm>
            <a:off x="61595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 vs Overload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Overriding: subclass redefines superclass method → runtime polymorphism. Overloading: same name, different parameters → compile-time polymorphism.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460500"/>
            <a:ext cx="4445000" cy="330200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1460500"/>
            <a:ext cx="4445000" cy="50800"/>
          </a:xfrm>
          <a:prstGeom prst="rect">
            <a:avLst/>
          </a:prstGeom>
          <a:solidFill>
            <a:srgbClr val="455A64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1714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159000"/>
            <a:ext cx="393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Interface &amp; Abstract Class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49000" y="2578100"/>
            <a:ext cx="393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Interface defines a contract (what to do). Abstract class provides partial implementation. Together they enable flexible, decoupled OOP design.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6000" y="5080000"/>
            <a:ext cx="14224000" cy="0"/>
          </a:xfrm>
          <a:prstGeom prst="straightConnector1">
            <a:avLst/>
          </a:prstGeom>
          <a:noFill/>
          <a:ln w="12700">
            <a:solidFill>
              <a:srgbClr val="CFD8D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016000" y="5334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55A6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Principle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778500"/>
            <a:ext cx="1422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Program to an interface, not an implementation.</a:t>
            </a:r>
            <a:endParaRPr lang="en-US" sz="1800" dirty="0"/>
          </a:p>
          <a:p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four concepts — polymorphism, overriding, overloading, and interfaces — work together to create 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extensible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maintainable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flexible</a:t>
            </a:r>
            <a:pPr>
              <a:lnSpc>
                <a:spcPct val="18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747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object-oriented systems. New classes can be added with minimal changes to existing code.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455A64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3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/>
          <p:nvPr/>
        </p:nvSpPr>
        <p:spPr>
          <a:xfrm>
            <a:off x="3048000" y="3556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48000" y="4381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spc="300" kern="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350000" y="5016500"/>
            <a:ext cx="3556000" cy="0"/>
          </a:xfrm>
          <a:prstGeom prst="straightConnector1">
            <a:avLst/>
          </a:prstGeom>
          <a:noFill/>
          <a:ln w="127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3048000" y="533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BBM 102 – Introduction to Programming II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2025-2026 | Week 8: Polymorphism &amp; Interfaces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093200"/>
            <a:ext cx="16256000" cy="0"/>
          </a:xfrm>
          <a:prstGeom prst="straightConnector1">
            <a:avLst/>
          </a:prstGeom>
          <a:noFill/>
          <a:ln w="50800">
            <a:solidFill>
              <a:srgbClr val="90A4AE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4605000" y="8636000"/>
            <a:ext cx="101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0A4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Polymorphism, Override, Overload &amp; Interfaces</dc:title>
  <dc:subject>Polymorphism, Override, Overload &amp; Interfaces</dc:subject>
  <dc:creator>Kimi</dc:creator>
  <cp:lastModifiedBy>Kimi</cp:lastModifiedBy>
  <cp:revision>1</cp:revision>
  <dcterms:created xsi:type="dcterms:W3CDTF">2026-05-01T11:47:25Z</dcterms:created>
  <dcterms:modified xsi:type="dcterms:W3CDTF">2026-05-01T11:47:25Z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{"Label":"Polymorphism, Override, Overload &amp; Interfaces","ContentProducer":"001191110108MACG2KBH8F10000","ProduceID":"19de3546-3e62-8451-8000-00006adeb536","ReservedCode1":"","ContentPropagator":"001191110108MACG2KBH8F20000","PropagateID":"19de3546-3e62-8451-8000-00006adeb536","ReservedCode2":""}</vt:lpwstr>
  </property>
</Properties>
</file>