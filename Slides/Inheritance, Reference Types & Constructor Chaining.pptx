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6256000" cy="9144000"/>
  <p:notesSz cx="9144000" cy="16256000"/>
  <p:embeddedFontLst>
    <p:embeddedFont>
      <p:font typeface="Quattrocento Sans" charset="-122" pitchFamily="34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16000" y="635000"/>
            <a:ext cx="571500" cy="571500"/>
          </a:xfrm>
          <a:prstGeom prst="ellipse">
            <a:avLst/>
          </a:prstGeom>
          <a:solidFill>
            <a:srgbClr val="ECEFF1"/>
          </a:solidFill>
          <a:ln w="25400">
            <a:solidFill>
              <a:srgbClr val="90A4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14500" y="635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BBM 102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714500" y="9652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 to Programming II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16000" y="2921000"/>
            <a:ext cx="14224000" cy="0"/>
          </a:xfrm>
          <a:prstGeom prst="straightConnector1">
            <a:avLst/>
          </a:prstGeom>
          <a:noFill/>
          <a:ln w="12700">
            <a:solidFill>
              <a:srgbClr val="90A4AE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1016000" y="3238500"/>
            <a:ext cx="1397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00" b="1" dirty="0">
                <a:solidFill>
                  <a:srgbClr val="2632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Inheritance, Reference Types &amp; Constructor Chaining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4127500"/>
            <a:ext cx="1270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Object-Oriented Programming Core Concepts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16000" y="4762500"/>
            <a:ext cx="14224000" cy="0"/>
          </a:xfrm>
          <a:prstGeom prst="straightConnector1">
            <a:avLst/>
          </a:prstGeom>
          <a:noFill/>
          <a:ln w="12700">
            <a:solidFill>
              <a:srgbClr val="90A4AE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1016000" y="53340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Spring 2025-2026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57785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Computer Engineering Department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6000" y="6223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May 2025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13335000" y="8255000"/>
            <a:ext cx="228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LECTURE SLIDES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1016000" y="635000"/>
            <a:ext cx="254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2632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" y="1206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TABLE OF CONTENTS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6000" y="1651000"/>
            <a:ext cx="14224000" cy="0"/>
          </a:xfrm>
          <a:prstGeom prst="straightConnector1">
            <a:avLst/>
          </a:prstGeom>
          <a:noFill/>
          <a:ln w="12700">
            <a:solidFill>
              <a:srgbClr val="90A4AE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1016000" y="2032000"/>
            <a:ext cx="8128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32000" y="20701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632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Inheritance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32000" y="24511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Inheritance, Superclasses &amp; Subclasses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16000" y="2921000"/>
            <a:ext cx="14224000" cy="0"/>
          </a:xfrm>
          <a:prstGeom prst="straightConnector1">
            <a:avLst/>
          </a:prstGeom>
          <a:noFill/>
          <a:ln w="12700">
            <a:solidFill>
              <a:srgbClr val="ECEFF1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1016000" y="3111500"/>
            <a:ext cx="8128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032000" y="31496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632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Reference Type vs Object Type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032000" y="35306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Polymorphism and Variable Scopes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16000" y="4000500"/>
            <a:ext cx="14224000" cy="0"/>
          </a:xfrm>
          <a:prstGeom prst="straightConnector1">
            <a:avLst/>
          </a:prstGeom>
          <a:noFill/>
          <a:ln w="12700">
            <a:solidFill>
              <a:srgbClr val="ECEFF1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1016000" y="4191000"/>
            <a:ext cx="8128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032000" y="42291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632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Constructor Chaining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032000" y="46101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Constructor Hierarchy and super() Calls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/ 12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63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90A4AE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1016000" y="2540000"/>
            <a:ext cx="5334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400" dirty="0">
                <a:solidFill>
                  <a:srgbClr val="FFFFFF">
                    <a:alpha val="8235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16000" y="3937000"/>
            <a:ext cx="1016000" cy="0"/>
          </a:xfrm>
          <a:prstGeom prst="straightConnector1">
            <a:avLst/>
          </a:prstGeom>
          <a:noFill/>
          <a:ln w="25400">
            <a:solidFill>
              <a:srgbClr val="90A4AE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1016000" y="4191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Inheritance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4953000"/>
            <a:ext cx="762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200" kern="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Concepts, Relationships, and Access Control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90A4AE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1016000" y="254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01 — Understanding Inheritance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" y="635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What is Inheritance?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16000" y="1143000"/>
            <a:ext cx="14224000" cy="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016000" y="1397000"/>
            <a:ext cx="14224000" cy="114300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7" name="Text 5"/>
          <p:cNvSpPr/>
          <p:nvPr/>
        </p:nvSpPr>
        <p:spPr>
          <a:xfrm>
            <a:off x="1270000" y="1460500"/>
            <a:ext cx="1371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Definition: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 form of software reuse in which a new class is created by absorbing an existing class's members and embellishing them with new or modified capabilities.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16000" y="2794000"/>
            <a:ext cx="685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Concepts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3213100"/>
            <a:ext cx="68580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Superclass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the existing class that provides its members to be inherited.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Subclass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the new class that inherits from the superclass and adds specific behaviors.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Specialization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the subclass represents a more specialized group of objects.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Java supports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single inheritance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; every class directly or indirectly extends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Object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128000" y="2794000"/>
            <a:ext cx="0" cy="368300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8382000" y="2794000"/>
            <a:ext cx="685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 Advantages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82000" y="3213100"/>
            <a:ext cx="68580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 Reuse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reuse methods and data of the existing class without rewriting them.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 Extend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add new data and new methods specific to the subclass.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3. Override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replace superclass method implementations with your own using the same signature.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16000" y="7874000"/>
            <a:ext cx="14224000" cy="635000"/>
          </a:xfrm>
          <a:prstGeom prst="rect">
            <a:avLst/>
          </a:prstGeom>
          <a:solidFill>
            <a:srgbClr val="455A64"/>
          </a:solidFill>
          <a:ln/>
        </p:spPr>
      </p:sp>
      <p:sp>
        <p:nvSpPr>
          <p:cNvPr id="14" name="Text 12"/>
          <p:cNvSpPr/>
          <p:nvPr/>
        </p:nvSpPr>
        <p:spPr>
          <a:xfrm>
            <a:off x="1270000" y="7937500"/>
            <a:ext cx="1371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is-a Relationship: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 object of a subclass can also be treated as an object of its superclass.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/ 12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1016000" y="254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01 — Understanding Inheritance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" y="635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Access Modifiers &amp; Class Relationships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16000" y="1143000"/>
            <a:ext cx="14224000" cy="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1397000"/>
          <a:ext cx="14224000" cy="2794000"/>
        </p:xfrm>
        <a:graphic>
          <a:graphicData uri="http://schemas.openxmlformats.org/drawingml/2006/table">
            <a:tbl>
              <a:tblPr/>
              <a:tblGrid>
                <a:gridCol w="3556000"/>
                <a:gridCol w="2667000"/>
                <a:gridCol w="2667000"/>
                <a:gridCol w="2667000"/>
                <a:gridCol w="2667000"/>
              </a:tblGrid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Modifier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5A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Class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5A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Package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5A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Subclass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5A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World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5A64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747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public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455A6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Y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455A6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Y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455A6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Y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455A6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Y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747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protected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455A6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Y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455A6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Y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455A6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Y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747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747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private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455A6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Y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747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747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747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747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default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455A6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Y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455A6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Y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747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747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016000" y="4318000"/>
            <a:ext cx="142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78909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Table 1.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78909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Java access modifiers and their visibility levels.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016000" y="4826000"/>
            <a:ext cx="14224000" cy="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</p:sp>
      <p:sp>
        <p:nvSpPr>
          <p:cNvPr id="9" name="Text 6"/>
          <p:cNvSpPr/>
          <p:nvPr/>
        </p:nvSpPr>
        <p:spPr>
          <a:xfrm>
            <a:off x="1016000" y="5080000"/>
            <a:ext cx="685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is-a vs has-a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16000" y="5499100"/>
            <a:ext cx="6858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is-a (Inheritance):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 subclass is a specialized type of its superclass. Example: </a:t>
            </a:r>
            <a:pPr>
              <a:lnSpc>
                <a:spcPct val="170000"/>
              </a:lnSpc>
            </a:pPr>
            <a:r>
              <a:rPr lang="en-US" sz="1800" i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Dog is an Animal.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has-a (Composition):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 class contains references to other objects as members. Example: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i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 Employee has a BirthDate.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Not every relationship should be inheritance. Use composition when there is no true specialization.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8128000" y="5080000"/>
            <a:ext cx="0" cy="317500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</p:sp>
      <p:sp>
        <p:nvSpPr>
          <p:cNvPr id="12" name="Text 9"/>
          <p:cNvSpPr/>
          <p:nvPr/>
        </p:nvSpPr>
        <p:spPr>
          <a:xfrm>
            <a:off x="8382000" y="5080000"/>
            <a:ext cx="685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UML Inheritance Notation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382000" y="5499100"/>
            <a:ext cx="6858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 UML class diagrams, inheritance is shown with a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hollow triangular arrowhead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pointing from the subclass to the superclass.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Follow the arrows upward to identify is-a relationships: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i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Triangle is a TwoDimensionalShape and is a Shape.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i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Sphere is a ThreeDimensionalShape and is a Shape.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15" name="Text 12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/ 12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63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90A4AE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1016000" y="2540000"/>
            <a:ext cx="5334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400" dirty="0">
                <a:solidFill>
                  <a:srgbClr val="FFFFFF">
                    <a:alpha val="8235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16000" y="3937000"/>
            <a:ext cx="1016000" cy="0"/>
          </a:xfrm>
          <a:prstGeom prst="straightConnector1">
            <a:avLst/>
          </a:prstGeom>
          <a:noFill/>
          <a:ln w="25400">
            <a:solidFill>
              <a:srgbClr val="90A4AE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1016000" y="4191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Reference Type vs Object Type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4953000"/>
            <a:ext cx="889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200" kern="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Polymorphism and Variable Scopes in Java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90A4AE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1016000" y="254000"/>
            <a:ext cx="444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02 — Reference Type vs Object Type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" y="635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Reference Type vs Object Type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16000" y="1143000"/>
            <a:ext cx="14224000" cy="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1016000" y="1397000"/>
            <a:ext cx="685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Reference Type (Declared Type)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1816100"/>
            <a:ext cx="6858000" cy="311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Determines what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methods and fields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compiler allows you to access.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reference type is the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i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left side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of the assignment: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Animal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animal = new Dog();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You can only call methods declared in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Animal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through this reference.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128000" y="1397000"/>
            <a:ext cx="0" cy="355600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8382000" y="1397000"/>
            <a:ext cx="685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 Type (Actual Type)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82000" y="1816100"/>
            <a:ext cx="6858000" cy="311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Determines which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actual method implementation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runs at runtime (polymorphism).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object type is the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i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right side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of the assignment: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Animal animal = new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Dog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();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If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speak()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overridden, the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Dog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version executes.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16000" y="5080000"/>
            <a:ext cx="14224000" cy="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1016000" y="5334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 View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16000" y="5842000"/>
            <a:ext cx="3556000" cy="1270000"/>
          </a:xfrm>
          <a:prstGeom prst="rect">
            <a:avLst/>
          </a:prstGeom>
          <a:solidFill>
            <a:srgbClr val="ECEFF1"/>
          </a:solidFill>
          <a:ln w="25400">
            <a:solidFill>
              <a:srgbClr val="455A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6000" y="5842000"/>
            <a:ext cx="355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Reference Variable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63500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Type: Animal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0" y="6096000"/>
            <a:ext cx="1270000" cy="0"/>
          </a:xfrm>
          <a:prstGeom prst="straightConnector1">
            <a:avLst/>
          </a:prstGeom>
          <a:noFill/>
          <a:ln w="25400">
            <a:solidFill>
              <a:srgbClr val="455A64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5842000" y="5842000"/>
            <a:ext cx="4318000" cy="1397000"/>
          </a:xfrm>
          <a:prstGeom prst="rect">
            <a:avLst/>
          </a:prstGeom>
          <a:solidFill>
            <a:srgbClr val="455A64"/>
          </a:solidFill>
          <a:ln/>
        </p:spPr>
      </p:sp>
      <p:sp>
        <p:nvSpPr>
          <p:cNvPr id="18" name="Text 16"/>
          <p:cNvSpPr/>
          <p:nvPr/>
        </p:nvSpPr>
        <p:spPr>
          <a:xfrm>
            <a:off x="5842000" y="6096000"/>
            <a:ext cx="4318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 in Heap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842000" y="6604000"/>
            <a:ext cx="431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Actual Type: Dog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Contains all Animal + Dog fields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16000" y="7620000"/>
            <a:ext cx="14224000" cy="76200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21" name="Text 19"/>
          <p:cNvSpPr/>
          <p:nvPr/>
        </p:nvSpPr>
        <p:spPr>
          <a:xfrm>
            <a:off x="1270000" y="7683500"/>
            <a:ext cx="1371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Rule: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compiler checks the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reference type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; the JVM resolves the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object type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at runtime for overridden methods.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/ 12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1016000" y="254000"/>
            <a:ext cx="444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02 — Reference Type vs Object Type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" y="635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Polymorphism in Different Scopes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16000" y="1143000"/>
            <a:ext cx="14224000" cy="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016000" y="1397000"/>
            <a:ext cx="6858000" cy="527050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7" name="Text 5"/>
          <p:cNvSpPr/>
          <p:nvPr/>
        </p:nvSpPr>
        <p:spPr>
          <a:xfrm>
            <a:off x="1270000" y="1524000"/>
            <a:ext cx="635000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546E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Class scope reference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Animal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= new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Dog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a.speak();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546E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Calls Dog.speak()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546E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Method parameter scope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void feed(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Animal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pet)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pet.speak();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feed(new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());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546E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Block scope with casting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(a instanceof Dog)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Dog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 = (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Dog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 a;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d.fetch();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546E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Dog-only method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82000" y="1397000"/>
            <a:ext cx="685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Scope Analysis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382000" y="1879600"/>
            <a:ext cx="6858000" cy="444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Class Scope: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reference variable </a:t>
            </a:r>
            <a:pPr>
              <a:lnSpc>
                <a:spcPct val="170000"/>
              </a:lnSpc>
            </a:pPr>
            <a:r>
              <a:rPr lang="en-US" sz="1800" i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lives as long as the object exists. Its reference type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Animal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restricts you to Animal methods, even though the object is a Dog.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 Scope: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parameter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i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pet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local to the method. The reference type is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Animal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but at runtime it could be a Dog, Cat, or any Animal subclass.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Block Scope: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Inside the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i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if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block, we downcast to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Dog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The new reference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i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(type Dog) exists only within this block, giving access to Dog-specific methods.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16000" y="6731000"/>
            <a:ext cx="14224000" cy="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016000" y="6921500"/>
            <a:ext cx="14224000" cy="889000"/>
          </a:xfrm>
          <a:prstGeom prst="rect">
            <a:avLst/>
          </a:prstGeom>
          <a:solidFill>
            <a:srgbClr val="455A64"/>
          </a:solidFill>
          <a:ln/>
        </p:spPr>
      </p:sp>
      <p:sp>
        <p:nvSpPr>
          <p:cNvPr id="12" name="Text 10"/>
          <p:cNvSpPr/>
          <p:nvPr/>
        </p:nvSpPr>
        <p:spPr>
          <a:xfrm>
            <a:off x="1270000" y="6921500"/>
            <a:ext cx="1371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Principle: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Reference type determines the interface; object type determines the behavior. Variable scope determines lifetime and visibility.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 / 12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63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90A4AE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1016000" y="2540000"/>
            <a:ext cx="5334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400" dirty="0">
                <a:solidFill>
                  <a:srgbClr val="FFFFFF">
                    <a:alpha val="8235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16000" y="3937000"/>
            <a:ext cx="1016000" cy="0"/>
          </a:xfrm>
          <a:prstGeom prst="straightConnector1">
            <a:avLst/>
          </a:prstGeom>
          <a:noFill/>
          <a:ln w="25400">
            <a:solidFill>
              <a:srgbClr val="90A4AE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1016000" y="4191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Constructor Chaining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4953000"/>
            <a:ext cx="889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200" kern="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Constructor Hierarchy and super() Calls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90A4AE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1016000" y="254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03 — Constructor Chaining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" y="635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Constructor Chaining Basics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16000" y="1143000"/>
            <a:ext cx="14224000" cy="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1016000" y="1397000"/>
            <a:ext cx="685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Chain of Calls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1816100"/>
            <a:ext cx="6858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Instantiating a subclass object begins a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chain of constructor calls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going up the inheritance hierarchy.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subclass constructor invokes its direct superclass's constructor first.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That constructor invokes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i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its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superclass constructor, and so on.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3.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last constructor called is always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Object's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constructor.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4.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original subclass constructor's body finishes executing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i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last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128000" y="1397000"/>
            <a:ext cx="0" cy="444500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8382000" y="1397000"/>
            <a:ext cx="685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Rules for super()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82000" y="1816100"/>
            <a:ext cx="68580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Explicit call: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Use 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super(arguments)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as the </a:t>
            </a:r>
            <a:pPr>
              <a:lnSpc>
                <a:spcPct val="170000"/>
              </a:lnSpc>
            </a:pPr>
            <a:r>
              <a:rPr lang="en-US" sz="1800" i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first statement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the subclass constructor to call a specific superclass constructor.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Implicit call: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If you omit super(), Java automatically inserts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super()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(no-argument constructor).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Error case: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If the superclass has no no-arg constructor and you don't call super(args) explicitly, the compiler reports an error.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Constructors are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not inherited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each subclass must define its own and delegate upward.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16000" y="5842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Execution Order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16000" y="6350000"/>
            <a:ext cx="2540000" cy="635000"/>
          </a:xfrm>
          <a:prstGeom prst="rect">
            <a:avLst/>
          </a:prstGeom>
          <a:solidFill>
            <a:srgbClr val="ECEFF1"/>
          </a:solidFill>
          <a:ln w="25400">
            <a:solidFill>
              <a:srgbClr val="455A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16000" y="6350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Object()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556000" y="6667500"/>
            <a:ext cx="762000" cy="0"/>
          </a:xfrm>
          <a:prstGeom prst="straightConnector1">
            <a:avLst/>
          </a:prstGeom>
          <a:noFill/>
          <a:ln w="25400">
            <a:solidFill>
              <a:srgbClr val="455A64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4318000" y="6350000"/>
            <a:ext cx="3302000" cy="635000"/>
          </a:xfrm>
          <a:prstGeom prst="rect">
            <a:avLst/>
          </a:prstGeom>
          <a:solidFill>
            <a:srgbClr val="ECEFF1"/>
          </a:solidFill>
          <a:ln w="25400">
            <a:solidFill>
              <a:srgbClr val="455A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18000" y="6350000"/>
            <a:ext cx="330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CommissionEmployee()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0" y="6667500"/>
            <a:ext cx="762000" cy="0"/>
          </a:xfrm>
          <a:prstGeom prst="straightConnector1">
            <a:avLst/>
          </a:prstGeom>
          <a:noFill/>
          <a:ln w="25400">
            <a:solidFill>
              <a:srgbClr val="455A64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8382000" y="6350000"/>
            <a:ext cx="3810000" cy="635000"/>
          </a:xfrm>
          <a:prstGeom prst="rect">
            <a:avLst/>
          </a:prstGeom>
          <a:solidFill>
            <a:srgbClr val="455A64"/>
          </a:solidFill>
          <a:ln/>
        </p:spPr>
      </p:sp>
      <p:sp>
        <p:nvSpPr>
          <p:cNvPr id="19" name="Text 17"/>
          <p:cNvSpPr/>
          <p:nvPr/>
        </p:nvSpPr>
        <p:spPr>
          <a:xfrm>
            <a:off x="8382000" y="6350000"/>
            <a:ext cx="381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BasePlusCommissionEmployee()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16000" y="7175500"/>
            <a:ext cx="142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78909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Calls proceed left-to-right; bodies execute right-to-left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 / 12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1016000" y="254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03 — Constructor Chaining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" y="635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Constructor Chaining Example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16000" y="1143000"/>
            <a:ext cx="14224000" cy="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016000" y="1397000"/>
            <a:ext cx="6858000" cy="431800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7" name="Text 5"/>
          <p:cNvSpPr/>
          <p:nvPr/>
        </p:nvSpPr>
        <p:spPr>
          <a:xfrm>
            <a:off x="1270000" y="1524000"/>
            <a:ext cx="63500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46E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CommissionEmployee.java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class CommissionEmployee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private String firstName;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private double grossSales;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CommissionEmployee(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String fn, double sales)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super();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546E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calls Object()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this.firstName = fn;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this.grossSales = sales;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382000" y="1397000"/>
            <a:ext cx="6858000" cy="444500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9" name="Text 7"/>
          <p:cNvSpPr/>
          <p:nvPr/>
        </p:nvSpPr>
        <p:spPr>
          <a:xfrm>
            <a:off x="8636000" y="1524000"/>
            <a:ext cx="63500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46E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BasePlusCommissionEmployee.java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class BasePlusCommissionEmployee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extends CommissionEmployee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private double baseSalary;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BasePlusCommissionEmployee(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String fn, double sales,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double salary)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super(fn, sales);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46E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initializes inherited fields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this.baseSalary = salary;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16000" y="5969000"/>
            <a:ext cx="14224000" cy="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1016000" y="6223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Happens at Runtime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6000" y="6604000"/>
            <a:ext cx="14224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Creating </a:t>
            </a:r>
            <a:pPr>
              <a:lnSpc>
                <a:spcPct val="170000"/>
              </a:lnSpc>
            </a:pPr>
            <a:r>
              <a:rPr lang="en-US" sz="1800" i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new BasePlusCommissionEmployee(...)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triggers the constructor chain upward.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</a:t>
            </a:r>
            <a:pPr>
              <a:lnSpc>
                <a:spcPct val="17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BasePlusCommissionEmployee calls </a:t>
            </a:r>
            <a:pPr>
              <a:lnSpc>
                <a:spcPct val="17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super(fn, sales)</a:t>
            </a:r>
            <a:pPr>
              <a:lnSpc>
                <a:spcPct val="17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initialize inherited fields.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3.</a:t>
            </a:r>
            <a:pPr>
              <a:lnSpc>
                <a:spcPct val="17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CommissionEmployee calls </a:t>
            </a:r>
            <a:pPr>
              <a:lnSpc>
                <a:spcPct val="17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super()</a:t>
            </a:r>
            <a:pPr>
              <a:lnSpc>
                <a:spcPct val="17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(Object) implicitly.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4.</a:t>
            </a:r>
            <a:pPr>
              <a:lnSpc>
                <a:spcPct val="17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Execution unwinds: Object → CommissionEmployee → BasePlusCommissionEmployee.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 / 12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63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90A4AE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7493000" y="2159000"/>
            <a:ext cx="1270000" cy="1270000"/>
          </a:xfrm>
          <a:prstGeom prst="ellipse">
            <a:avLst/>
          </a:prstGeom>
          <a:solidFill>
            <a:srgbClr val="FFFFFF">
              <a:alpha val="6275"/>
            </a:srgbClr>
          </a:solidFill>
          <a:ln w="25400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0" y="3810000"/>
            <a:ext cx="1016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Thank You for Your Attention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048000" y="4635500"/>
            <a:ext cx="1016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spc="300" kern="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50000" y="5270500"/>
            <a:ext cx="3556000" cy="0"/>
          </a:xfrm>
          <a:prstGeom prst="straightConnector1">
            <a:avLst/>
          </a:prstGeom>
          <a:noFill/>
          <a:ln w="12700">
            <a:solidFill>
              <a:srgbClr val="90A4AE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3048000" y="5588000"/>
            <a:ext cx="1016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80000"/>
              </a:lnSpc>
            </a:pPr>
            <a:r>
              <a:rPr lang="en-US" sz="16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BBM 102 — Introduction to Programming II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16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Spring 2025-2026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90A4AE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 / 12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Inheritance, Reference Types &amp; Constructor Chaining</dc:title>
  <dc:subject>Inheritance, Reference Types &amp; Constructor Chaining</dc:subject>
  <dc:creator>Kimi</dc:creator>
  <cp:lastModifiedBy>Kimi</cp:lastModifiedBy>
  <cp:revision>1</cp:revision>
  <dcterms:created xsi:type="dcterms:W3CDTF">2026-05-01T11:18:15Z</dcterms:created>
  <dcterms:modified xsi:type="dcterms:W3CDTF">2026-05-01T11:18:15Z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{"Label":"Inheritance, Reference Types &amp; Constructor Chaining","ContentProducer":"001191110108MACG2KBH8F10000","ProduceID":"19de33fc-4e62-8077-8000-0000a863a7dd","ReservedCode1":"","ContentPropagator":"001191110108MACG2KBH8F20000","PropagateID":"19de33fc-4e62-8077-8000-0000a863a7dd","ReservedCode2":""}</vt:lpwstr>
  </property>
</Properties>
</file>